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3.svg" ContentType="image/svg+xml"/>
  <Override PartName="/ppt/media/image19.svg" ContentType="image/svg+xml"/>
  <Override PartName="/ppt/media/image24.svg" ContentType="image/svg+xml"/>
  <Override PartName="/ppt/media/image25.svg" ContentType="image/svg+xml"/>
  <Override PartName="/ppt/media/image3.svg" ContentType="image/svg+xml"/>
  <Override PartName="/ppt/media/image33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556" r:id="rId3"/>
    <p:sldId id="3551" r:id="rId4"/>
    <p:sldId id="3585" r:id="rId6"/>
    <p:sldId id="278" r:id="rId7"/>
    <p:sldId id="3534" r:id="rId8"/>
    <p:sldId id="416" r:id="rId9"/>
    <p:sldId id="3538" r:id="rId10"/>
    <p:sldId id="3564" r:id="rId11"/>
    <p:sldId id="3568" r:id="rId12"/>
    <p:sldId id="3586" r:id="rId13"/>
    <p:sldId id="3565" r:id="rId14"/>
    <p:sldId id="3579" r:id="rId15"/>
    <p:sldId id="3581" r:id="rId16"/>
    <p:sldId id="3580" r:id="rId17"/>
    <p:sldId id="3587" r:id="rId18"/>
    <p:sldId id="3588" r:id="rId19"/>
    <p:sldId id="3583" r:id="rId20"/>
    <p:sldId id="3584" r:id="rId21"/>
    <p:sldId id="3550" r:id="rId22"/>
    <p:sldId id="3578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5FA0"/>
    <a:srgbClr val="629DD1"/>
    <a:srgbClr val="F2F2F2"/>
    <a:srgbClr val="FF9933"/>
    <a:srgbClr val="760000"/>
    <a:srgbClr val="BF1717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13760B-EE0E-405F-8415-1F856B44E056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>
        <a:fontRef idx="none">
          <a:schemeClr val="tx1"/>
        </a:fontRef>
      </a:tcTxStyle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35000"/>
                  <a:lumOff val="65000"/>
                  <a:alpha val="20000"/>
                </a:schemeClr>
              </a:solidFill>
              <a:prstDash val="solid"/>
            </a:ln>
          </a:insideV>
        </a:tcBdr>
        <a:fill>
          <a:solidFill>
            <a:schemeClr val="dk1">
              <a:lumMod val="40000"/>
              <a:lumOff val="60000"/>
              <a:alpha val="5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0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6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798.000 333.000,'512.000'0.000,"-512.000"55.000,-512.000-55.000,512.000-55.000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839.000 857.000,'368.000'0.000,"-368.000"35.000,-368.000-35.000,368.000-35.000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732.000 254.000,'761.000'0.000,"-761.000"58.000,-761.000-58.000,761.000-58.000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723.000 531.000,'431.000'0.000,"-431.000"40.000,-431.000-40.000,431.000-40.000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615.000 452.000,'49.000'0.000,"-49.000"35.000,-49.000-35.000,49.000-35.000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754.000 455.000,'86.000'0.000,"-86.000"33.000,-86.000-33.000,86.000-33.000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290.000 371.000,'146.000'0.000,"-146.000"93.000,-146.000-93.000,146.000-93.000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285.000 579.000,'150.000'0.000,"-150.000"79.000,-150.000-79.000,150.000-79.000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6-04T18:08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158.000 786.000,'161.000'0.000,"-161.000"71.000,-161.000-71.000,161.000-71.000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794963" y="1260338"/>
            <a:ext cx="9674317" cy="662780"/>
          </a:xfrm>
        </p:spPr>
        <p:txBody>
          <a:bodyPr>
            <a:normAutofit/>
          </a:bodyPr>
          <a:lstStyle>
            <a:lvl1pPr>
              <a:defRPr sz="3000" b="1" spc="100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" name="流程图: 终止 13"/>
          <p:cNvSpPr/>
          <p:nvPr userDrawn="1"/>
        </p:nvSpPr>
        <p:spPr>
          <a:xfrm>
            <a:off x="173990" y="247650"/>
            <a:ext cx="2160000" cy="576000"/>
          </a:xfrm>
          <a:prstGeom prst="flowChartTerminator">
            <a:avLst/>
          </a:prstGeom>
          <a:solidFill>
            <a:schemeClr val="accent2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tags" Target="../tags/tag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png"/><Relationship Id="rId7" Type="http://schemas.openxmlformats.org/officeDocument/2006/relationships/customXml" Target="../ink/ink2.xml"/><Relationship Id="rId6" Type="http://schemas.openxmlformats.org/officeDocument/2006/relationships/image" Target="../media/image22.png"/><Relationship Id="rId5" Type="http://schemas.openxmlformats.org/officeDocument/2006/relationships/customXml" Target="../ink/ink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sv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customXml" Target="../ink/ink4.xml"/><Relationship Id="rId7" Type="http://schemas.openxmlformats.org/officeDocument/2006/relationships/image" Target="../media/image28.png"/><Relationship Id="rId6" Type="http://schemas.openxmlformats.org/officeDocument/2006/relationships/customXml" Target="../ink/ink3.xml"/><Relationship Id="rId5" Type="http://schemas.openxmlformats.org/officeDocument/2006/relationships/image" Target="../media/image21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6" Type="http://schemas.openxmlformats.org/officeDocument/2006/relationships/customXml" Target="../ink/ink6.xml"/><Relationship Id="rId5" Type="http://schemas.openxmlformats.org/officeDocument/2006/relationships/image" Target="../media/image31.png"/><Relationship Id="rId4" Type="http://schemas.openxmlformats.org/officeDocument/2006/relationships/customXml" Target="../ink/ink5.xml"/><Relationship Id="rId3" Type="http://schemas.openxmlformats.org/officeDocument/2006/relationships/image" Target="../media/image30.png"/><Relationship Id="rId2" Type="http://schemas.openxmlformats.org/officeDocument/2006/relationships/image" Target="../media/image24.sv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customXml" Target="../ink/ink9.xml"/><Relationship Id="rId7" Type="http://schemas.openxmlformats.org/officeDocument/2006/relationships/image" Target="../media/image36.png"/><Relationship Id="rId6" Type="http://schemas.openxmlformats.org/officeDocument/2006/relationships/customXml" Target="../ink/ink8.xml"/><Relationship Id="rId5" Type="http://schemas.openxmlformats.org/officeDocument/2006/relationships/image" Target="../media/image35.png"/><Relationship Id="rId4" Type="http://schemas.openxmlformats.org/officeDocument/2006/relationships/customXml" Target="../ink/ink7.xml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" y="794385"/>
            <a:ext cx="10798175" cy="413004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-252095" y="703580"/>
            <a:ext cx="12322175" cy="635"/>
          </a:xfrm>
          <a:prstGeom prst="line">
            <a:avLst/>
          </a:prstGeom>
          <a:ln w="222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  <a:gs pos="51000">
                  <a:schemeClr val="accent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208395"/>
            <a:ext cx="12192000" cy="64960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292860" y="5628640"/>
            <a:ext cx="24504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汇报人：金晓慧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19800" y="5628640"/>
            <a:ext cx="39465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2026.6.4</a:t>
            </a:r>
            <a:endParaRPr lang="en-US" altLang="zh-CN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" y="5014595"/>
            <a:ext cx="1219136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高强度努力操纵降低反应谨慎性：自我消耗范式的预注册重塑研究</a:t>
            </a:r>
            <a:endParaRPr lang="zh-CN" altLang="en-US" sz="2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图片 14" descr="箭头-双线-向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84555" y="5773420"/>
            <a:ext cx="408305" cy="408305"/>
          </a:xfrm>
          <a:prstGeom prst="rect">
            <a:avLst/>
          </a:prstGeom>
        </p:spPr>
      </p:pic>
      <p:pic>
        <p:nvPicPr>
          <p:cNvPr id="18" name="图片 17" descr="箭头-双线-向下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611495" y="5773420"/>
            <a:ext cx="408305" cy="4083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527810" cy="1102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4203700" y="1863090"/>
            <a:ext cx="3970020" cy="2482215"/>
          </a:xfrm>
          <a:prstGeom prst="rect">
            <a:avLst/>
          </a:prstGeom>
          <a:ln w="12700" cmpd="sng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流程图: 可选过程 23"/>
          <p:cNvSpPr/>
          <p:nvPr/>
        </p:nvSpPr>
        <p:spPr>
          <a:xfrm>
            <a:off x="0" y="6193155"/>
            <a:ext cx="12191365" cy="652780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723515" y="793750"/>
            <a:ext cx="7444740" cy="630555"/>
          </a:xfrm>
        </p:spPr>
        <p:txBody>
          <a:bodyPr>
            <a:normAutofit fontScale="90000"/>
          </a:bodyPr>
          <a:lstStyle/>
          <a:p>
            <a:r>
              <a:rPr lang="zh-CN" altLang="en-US" sz="2400">
                <a:solidFill>
                  <a:schemeClr val="accent2"/>
                </a:solidFill>
              </a:rPr>
              <a:t>高</a:t>
            </a:r>
            <a:r>
              <a:rPr lang="zh-CN" altLang="en-US" sz="2400">
                <a:solidFill>
                  <a:schemeClr val="accent2"/>
                </a:solidFill>
                <a:sym typeface="+mn-ea"/>
              </a:rPr>
              <a:t>认知</a:t>
            </a:r>
            <a:r>
              <a:rPr lang="zh-CN" altLang="en-US" sz="2400">
                <a:solidFill>
                  <a:schemeClr val="accent2"/>
                </a:solidFill>
              </a:rPr>
              <a:t>负荷会削弱认知控制能力，还是改变决策策略？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2920" y="2005965"/>
            <a:ext cx="3792220" cy="226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研究争议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：速度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准确率权衡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Speed↑⇒Accuracy↓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无法区分表现下降到底是认知控制能力下降，还是变得不再谨慎？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87090" y="6289040"/>
            <a:ext cx="6126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研究者试图用</a:t>
            </a: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计算模型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重新解释自我消耗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1155" y="271780"/>
            <a:ext cx="1877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91586" y="1651798"/>
            <a:ext cx="3158490" cy="460375"/>
            <a:chOff x="600476" y="3954943"/>
            <a:chExt cx="3158490" cy="460375"/>
          </a:xfrm>
        </p:grpSpPr>
        <p:sp>
          <p:nvSpPr>
            <p:cNvPr id="19" name="文本框 18"/>
            <p:cNvSpPr txBox="1"/>
            <p:nvPr/>
          </p:nvSpPr>
          <p:spPr>
            <a:xfrm>
              <a:off x="688741" y="3954943"/>
              <a:ext cx="307022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经典</a:t>
              </a:r>
              <a:r>
                <a:rPr lang="en-US" altLang="zh-CN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Ego Depletion</a:t>
              </a: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</a:t>
              </a: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00476" y="4056830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91820" y="2473325"/>
            <a:ext cx="2131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认知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负荷任务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1820" y="3350895"/>
            <a:ext cx="2132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消耗认知资源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1820" y="4274185"/>
            <a:ext cx="2394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认知控制能力变差</a:t>
            </a:r>
            <a:endParaRPr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591820" y="5076825"/>
            <a:ext cx="36118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冲突决策任务（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Stroop 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表现下降（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ACC↓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000"/>
          </a:p>
        </p:txBody>
      </p:sp>
      <p:grpSp>
        <p:nvGrpSpPr>
          <p:cNvPr id="28" name="组合 27"/>
          <p:cNvGrpSpPr/>
          <p:nvPr/>
        </p:nvGrpSpPr>
        <p:grpSpPr>
          <a:xfrm>
            <a:off x="9425305" y="1651635"/>
            <a:ext cx="1851660" cy="460375"/>
            <a:chOff x="600476" y="3954943"/>
            <a:chExt cx="1851660" cy="460375"/>
          </a:xfrm>
        </p:grpSpPr>
        <p:sp>
          <p:nvSpPr>
            <p:cNvPr id="29" name="文本框 28"/>
            <p:cNvSpPr txBox="1"/>
            <p:nvPr/>
          </p:nvSpPr>
          <p:spPr>
            <a:xfrm>
              <a:off x="688741" y="3954943"/>
              <a:ext cx="176339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本研究观点</a:t>
              </a: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00476" y="4056830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406255" y="2466340"/>
            <a:ext cx="213106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认知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负荷任务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406255" y="3350895"/>
            <a:ext cx="17449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任务投入降低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06255" y="4274185"/>
            <a:ext cx="1996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改变决策策略</a:t>
            </a:r>
            <a:endParaRPr lang="zh-CN" altLang="en-US" sz="2000"/>
          </a:p>
        </p:txBody>
      </p:sp>
      <p:sp>
        <p:nvSpPr>
          <p:cNvPr id="37" name="下箭头 36"/>
          <p:cNvSpPr/>
          <p:nvPr/>
        </p:nvSpPr>
        <p:spPr>
          <a:xfrm>
            <a:off x="1355090" y="2863850"/>
            <a:ext cx="75565" cy="453390"/>
          </a:xfrm>
          <a:prstGeom prst="downArrow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下箭头 37"/>
          <p:cNvSpPr/>
          <p:nvPr/>
        </p:nvSpPr>
        <p:spPr>
          <a:xfrm>
            <a:off x="1355090" y="3720465"/>
            <a:ext cx="75565" cy="453390"/>
          </a:xfrm>
          <a:prstGeom prst="downArrow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下箭头 38"/>
          <p:cNvSpPr/>
          <p:nvPr/>
        </p:nvSpPr>
        <p:spPr>
          <a:xfrm>
            <a:off x="1355090" y="4700905"/>
            <a:ext cx="75565" cy="453390"/>
          </a:xfrm>
          <a:prstGeom prst="downArrow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9406255" y="5208270"/>
            <a:ext cx="27844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反应谨慎性下降</a:t>
            </a:r>
            <a:endParaRPr lang="zh-CN" altLang="en-US" sz="2000"/>
          </a:p>
        </p:txBody>
      </p:sp>
      <p:sp>
        <p:nvSpPr>
          <p:cNvPr id="43" name="下箭头 42"/>
          <p:cNvSpPr/>
          <p:nvPr/>
        </p:nvSpPr>
        <p:spPr>
          <a:xfrm>
            <a:off x="10235565" y="2919095"/>
            <a:ext cx="75565" cy="354330"/>
          </a:xfrm>
          <a:prstGeom prst="downArrow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下箭头 43"/>
          <p:cNvSpPr/>
          <p:nvPr/>
        </p:nvSpPr>
        <p:spPr>
          <a:xfrm>
            <a:off x="10235565" y="3834765"/>
            <a:ext cx="75565" cy="354330"/>
          </a:xfrm>
          <a:prstGeom prst="downArrow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下箭头 44"/>
          <p:cNvSpPr/>
          <p:nvPr/>
        </p:nvSpPr>
        <p:spPr>
          <a:xfrm>
            <a:off x="10235565" y="4794250"/>
            <a:ext cx="75565" cy="354330"/>
          </a:xfrm>
          <a:prstGeom prst="downArrow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下箭头 45"/>
          <p:cNvSpPr/>
          <p:nvPr/>
        </p:nvSpPr>
        <p:spPr>
          <a:xfrm>
            <a:off x="6171565" y="5076825"/>
            <a:ext cx="75565" cy="939800"/>
          </a:xfrm>
          <a:prstGeom prst="downArrow">
            <a:avLst/>
          </a:prstGeom>
          <a:solidFill>
            <a:schemeClr val="bg1"/>
          </a:solidFill>
          <a:ln w="1016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8045450" y="1536700"/>
            <a:ext cx="3929380" cy="3611245"/>
          </a:xfrm>
          <a:prstGeom prst="roundRect">
            <a:avLst>
              <a:gd name="adj" fmla="val 2890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可选过程 23"/>
          <p:cNvSpPr/>
          <p:nvPr/>
        </p:nvSpPr>
        <p:spPr>
          <a:xfrm>
            <a:off x="0" y="6193155"/>
            <a:ext cx="12191365" cy="652780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551555" y="6289040"/>
            <a:ext cx="5861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两种观点对应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DDM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不同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的参数变化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8835" y="4733925"/>
            <a:ext cx="5155565" cy="1398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把行为拆解为潜在认知过程：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漂移率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drift rate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：信息加工效率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boundary (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：反应谨慎性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1155" y="271780"/>
            <a:ext cx="1877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57325"/>
            <a:ext cx="7566025" cy="3218180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>
          <a:xfrm>
            <a:off x="3048000" y="391160"/>
            <a:ext cx="8435975" cy="662940"/>
          </a:xfrm>
        </p:spPr>
        <p:txBody>
          <a:bodyPr>
            <a:normAutofit/>
          </a:bodyPr>
          <a:p>
            <a:r>
              <a:rPr lang="en-US" altLang="zh-CN" sz="2800">
                <a:cs typeface="微软雅黑" panose="020B0503020204020204" pitchFamily="34" charset="-122"/>
                <a:sym typeface="+mn-ea"/>
              </a:rPr>
              <a:t>Drift-diffusion model（</a:t>
            </a:r>
            <a:r>
              <a:rPr lang="en-US" altLang="zh-CN" sz="2800">
                <a:cs typeface="微软雅黑" panose="020B0503020204020204" pitchFamily="34" charset="-122"/>
                <a:sym typeface="+mn-ea"/>
              </a:rPr>
              <a:t>DDM</a:t>
            </a:r>
            <a:r>
              <a:rPr lang="zh-CN" altLang="en-US" sz="2800"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2800">
                <a:cs typeface="微软雅黑" panose="020B0503020204020204" pitchFamily="34" charset="-122"/>
                <a:sym typeface="+mn-ea"/>
              </a:rPr>
              <a:t>漂移扩散模型</a:t>
            </a:r>
            <a:endParaRPr lang="zh-CN" altLang="en-US" sz="2800"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45450" y="1536700"/>
            <a:ext cx="407543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DDM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模型假设：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在每个试次中，参与者会逐步积累证据（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drift）。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当累积证据达到某个阈值（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boundary）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时，做出反应。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反应时间（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由两部分组成：决策时间 + 非决策时间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8597465" y="1784903"/>
            <a:ext cx="3121435" cy="4722714"/>
          </a:xfrm>
          <a:prstGeom prst="roundRect">
            <a:avLst>
              <a:gd name="adj" fmla="val 2890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/>
          <p:cNvSpPr/>
          <p:nvPr/>
        </p:nvSpPr>
        <p:spPr>
          <a:xfrm>
            <a:off x="697230" y="2040890"/>
            <a:ext cx="7725410" cy="1297940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688340" y="4537075"/>
            <a:ext cx="7725410" cy="1553845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93750" y="4617085"/>
            <a:ext cx="7542530" cy="1485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相比于低负荷任务，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高认知负荷任务会降低边界参数和漂移率参数。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DDM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边界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降低和漂移率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降低。</a:t>
            </a:r>
            <a:endParaRPr lang="zh-CN" altLang="en-US" sz="2000" b="0" i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817132" y="2382783"/>
            <a:ext cx="2721516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利用所有试次分布拟合，计算复杂、参数多、大样本元分析很耗时。</a:t>
            </a:r>
            <a:endParaRPr lang="zh-CN" altLang="en-US" b="0" i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96996" y="3771313"/>
            <a:ext cx="3297555" cy="460375"/>
            <a:chOff x="554756" y="1295181"/>
            <a:chExt cx="3297555" cy="460375"/>
          </a:xfrm>
        </p:grpSpPr>
        <p:sp>
          <p:nvSpPr>
            <p:cNvPr id="16" name="文本框 15"/>
            <p:cNvSpPr txBox="1"/>
            <p:nvPr/>
          </p:nvSpPr>
          <p:spPr>
            <a:xfrm>
              <a:off x="651276" y="1295181"/>
              <a:ext cx="320103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本研究假设</a:t>
              </a: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554756" y="1404466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8106" y="1191423"/>
            <a:ext cx="2976880" cy="460375"/>
            <a:chOff x="600476" y="3954943"/>
            <a:chExt cx="2976880" cy="460375"/>
          </a:xfrm>
        </p:grpSpPr>
        <p:sp>
          <p:nvSpPr>
            <p:cNvPr id="19" name="文本框 18"/>
            <p:cNvSpPr txBox="1"/>
            <p:nvPr/>
          </p:nvSpPr>
          <p:spPr>
            <a:xfrm>
              <a:off x="688741" y="3954943"/>
              <a:ext cx="28886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传统研究假设</a:t>
              </a: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00476" y="4056830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597465" y="1243818"/>
            <a:ext cx="1476780" cy="460375"/>
            <a:chOff x="554756" y="1295181"/>
            <a:chExt cx="1476780" cy="460375"/>
          </a:xfrm>
        </p:grpSpPr>
        <p:sp>
          <p:nvSpPr>
            <p:cNvPr id="11" name="文本框 10"/>
            <p:cNvSpPr txBox="1"/>
            <p:nvPr/>
          </p:nvSpPr>
          <p:spPr>
            <a:xfrm>
              <a:off x="651070" y="1295181"/>
              <a:ext cx="138046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拟合模型</a:t>
              </a: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54756" y="1404466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8797424" y="1940134"/>
            <a:ext cx="1380466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</a:t>
            </a:r>
            <a:r>
              <a:rPr lang="en-US" altLang="zh-CN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DDM</a:t>
            </a:r>
            <a:endParaRPr lang="en-US" altLang="zh-CN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816975" y="4259580"/>
            <a:ext cx="2721610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利用关键统计量反推</a:t>
            </a:r>
            <a:r>
              <a:rPr lang="en-US" altLang="zh-CN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DDM</a:t>
            </a: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参数。尽管更简单，但在检测实验效应方面往往不逊于甚至优于完整</a:t>
            </a:r>
            <a:r>
              <a:rPr lang="en-US" altLang="zh-CN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DDM</a:t>
            </a: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0" i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722360" y="3709035"/>
            <a:ext cx="299656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EZ-diffusion model</a:t>
            </a:r>
            <a:endParaRPr lang="en-US" altLang="zh-CN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1320" y="229235"/>
            <a:ext cx="1850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研究假设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3750" y="2094230"/>
            <a:ext cx="7629525" cy="11798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执行高认知负荷任务会消耗有限的自我控制资源，导致后续认知控制能力下降。对应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DDM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中漂移率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下降。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0495"/>
            <a:ext cx="5419090" cy="38328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29565" y="281305"/>
            <a:ext cx="2078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8595" y="5642610"/>
            <a:ext cx="5386070" cy="871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通过实验室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在线情境、操纵强度（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5-20min)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检验效应的稳健性和跨情境一致性。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9" name="图片 18" descr="12-技术路线图_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105" y="0"/>
            <a:ext cx="57365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29565" y="281305"/>
            <a:ext cx="2078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2"/>
          <p:cNvSpPr/>
          <p:nvPr>
            <p:custDataLst>
              <p:tags r:id="rId1"/>
            </p:custDataLst>
          </p:nvPr>
        </p:nvSpPr>
        <p:spPr>
          <a:xfrm>
            <a:off x="651510" y="1513840"/>
            <a:ext cx="3144520" cy="582930"/>
          </a:xfrm>
          <a:prstGeom prst="roundRect">
            <a:avLst>
              <a:gd name="adj" fmla="val 8636"/>
            </a:avLst>
          </a:prstGeom>
          <a:solidFill>
            <a:schemeClr val="accent2"/>
          </a:solidFill>
          <a:ln>
            <a:solidFill>
              <a:srgbClr val="629DD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）操纵检验有效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1510" y="2202180"/>
            <a:ext cx="11367135" cy="1052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高负荷任务相比低负荷任务，诱发了显著更强的主观努力感、疲劳感与沮丧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Cohen's </a:t>
            </a:r>
            <a:r>
              <a:rPr lang="en-US" altLang="zh-CN" sz="2000" i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 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0.91~2.83，BF &gt; 500）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: 圆角 2"/>
          <p:cNvSpPr/>
          <p:nvPr>
            <p:custDataLst>
              <p:tags r:id="rId2"/>
            </p:custDataLst>
          </p:nvPr>
        </p:nvSpPr>
        <p:spPr>
          <a:xfrm>
            <a:off x="651510" y="3626485"/>
            <a:ext cx="3144520" cy="582930"/>
          </a:xfrm>
          <a:prstGeom prst="roundRect">
            <a:avLst>
              <a:gd name="adj" fmla="val 8636"/>
            </a:avLst>
          </a:prstGeom>
          <a:solidFill>
            <a:schemeClr val="accent2"/>
          </a:solidFill>
          <a:ln>
            <a:solidFill>
              <a:srgbClr val="629DD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）统计分析结果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1510" y="4469765"/>
            <a:ext cx="109416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贝叶斯模型分析显示，高负荷后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Stroop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任务的边界参数（反应谨慎度）显著降低（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= −0.004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i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-0.15，BF = 29.10），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但漂移率（信息加工速度）无变化（</a:t>
            </a:r>
            <a:r>
              <a:rPr lang="en-US" altLang="zh-CN" sz="200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 = −0.003</a:t>
            </a:r>
            <a:r>
              <a:rPr lang="zh-CN" altLang="en-US" sz="200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 = -0.05，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 = 0.06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Stroop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一致性对边界参数具有显著影响（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 &gt; 500），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说明模型成功捕捉到了</a:t>
            </a:r>
            <a:r>
              <a:rPr lang="en-US" altLang="zh-CN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Stroop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效应</a:t>
            </a:r>
            <a:r>
              <a:rPr lang="zh-CN" altLang="en-US" sz="20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2"/>
          <p:cNvSpPr/>
          <p:nvPr>
            <p:custDataLst>
              <p:tags r:id="rId1"/>
            </p:custDataLst>
          </p:nvPr>
        </p:nvSpPr>
        <p:spPr>
          <a:xfrm>
            <a:off x="782955" y="3568065"/>
            <a:ext cx="11129010" cy="1809115"/>
          </a:xfrm>
          <a:prstGeom prst="roundRect">
            <a:avLst>
              <a:gd name="adj" fmla="val 863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"/>
          <p:cNvSpPr/>
          <p:nvPr>
            <p:custDataLst>
              <p:tags r:id="rId2"/>
            </p:custDataLst>
          </p:nvPr>
        </p:nvSpPr>
        <p:spPr>
          <a:xfrm>
            <a:off x="783590" y="1459865"/>
            <a:ext cx="11129010" cy="1513840"/>
          </a:xfrm>
          <a:prstGeom prst="roundRect">
            <a:avLst>
              <a:gd name="adj" fmla="val 863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29870" y="268605"/>
            <a:ext cx="2204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复现说明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7245" y="1710055"/>
            <a:ext cx="108896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复现的主要假设：在控制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Stroop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一致性条件之后，高负荷条件相比低负荷条件会表现出更小的决策边界，即参数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下降。这将反映在完成高负荷任务后，参与者的反应更不谨慎。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17245" y="3643630"/>
            <a:ext cx="10855960" cy="173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原文公开的数据中已包含扩散模型拟合后的参数数据（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ddm.csv），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但未公开从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Stroop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行为数据到扩散模型参数估计的完整建模代码。因此，本研究主要复现原文对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DDM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参数的后续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贝叶斯统计分析过程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，而未重新进行模型拟合。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复现前准备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659" y="1079644"/>
            <a:ext cx="2032863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数据和代码</a:t>
            </a:r>
            <a:endParaRPr lang="zh-CN" altLang="en-US" sz="2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323850" y="1784350"/>
          <a:ext cx="11108690" cy="1143000"/>
        </p:xfrm>
        <a:graphic>
          <a:graphicData uri="http://schemas.openxmlformats.org/drawingml/2006/table">
            <a:tbl>
              <a:tblPr firstRow="1">
                <a:tableStyleId>{9113760B-EE0E-405F-8415-1F856B44E056}</a:tableStyleId>
              </a:tblPr>
              <a:tblGrid>
                <a:gridCol w="3709670"/>
                <a:gridCol w="5340350"/>
                <a:gridCol w="205867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数据说明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ddm.csv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EZ-ddm (drift-diffusion model) dataset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D:\R_rpp\Data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m_a_condition_congruency.R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boundary ~ condition + congruency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D:\R_rpp\code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23850" y="3186113"/>
            <a:ext cx="5080000" cy="7245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Rows: </a:t>
            </a:r>
            <a:r>
              <a:rPr lang="en-US" altLang="zh-CN" sz="16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2744</a:t>
            </a:r>
            <a:endParaRPr lang="en-US" altLang="zh-CN" sz="1600" b="0" i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2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Columns: 9</a:t>
            </a:r>
            <a:endParaRPr lang="en-US" altLang="zh-CN" sz="1600" b="0" i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06070" y="3989705"/>
          <a:ext cx="7315835" cy="2590800"/>
        </p:xfrm>
        <a:graphic>
          <a:graphicData uri="http://schemas.openxmlformats.org/drawingml/2006/table">
            <a:tbl>
              <a:tblPr/>
              <a:tblGrid>
                <a:gridCol w="1328420"/>
                <a:gridCol w="1131570"/>
                <a:gridCol w="4855845"/>
              </a:tblGrid>
              <a:tr h="259080">
                <a:tc>
                  <a:txBody>
                    <a:bodyPr/>
                    <a:p>
                      <a:r>
                        <a:rPr lang="en-US" altLang="zh-CN"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Column</a:t>
                      </a:r>
                      <a:endParaRPr lang="en-US" altLang="zh-CN" sz="11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</a:t>
                      </a:r>
                      <a:endParaRPr lang="en-US" altLang="zh-CN" sz="11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Description</a:t>
                      </a:r>
                      <a:endParaRPr lang="en-US" altLang="zh-CN" sz="11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study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integer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study number (1, 2, 3, 4)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session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integer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session number (1, 2)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pNo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character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participant id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condition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character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experimental condition (control/low demand, deplete/high demand)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congruency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character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Stroop congruency (congruent, incongruent)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sessionOrder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character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order of experimental condition assignment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numeric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EZ-diffusion boundary parameter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numeric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EZ-diffusion drift rate parameter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t0_Ter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numeric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EZ-diffusion non-decision time parameter</a:t>
                      </a:r>
                      <a:endParaRPr lang="en-US" altLang="zh-CN" sz="1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1D9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130349" y="3599324"/>
            <a:ext cx="2032863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endParaRPr lang="zh-CN" altLang="en-US" sz="2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8130540" y="4309745"/>
          <a:ext cx="3302000" cy="1097280"/>
        </p:xfrm>
        <a:graphic>
          <a:graphicData uri="http://schemas.openxmlformats.org/drawingml/2006/table">
            <a:tbl>
              <a:tblPr/>
              <a:tblGrid>
                <a:gridCol w="1327785"/>
                <a:gridCol w="1974215"/>
              </a:tblGrid>
              <a:tr h="0">
                <a:tc>
                  <a:txBody>
                    <a:bodyPr/>
                    <a:p>
                      <a:r>
                        <a:rPr lang="zh-CN" altLang="en-US" sz="1800" b="0" i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</a:t>
                      </a:r>
                      <a:endParaRPr lang="zh-CN" altLang="en-US" sz="1800" b="0" i="0">
                        <a:solidFill>
                          <a:srgbClr val="2C3E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0" i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800" b="0" i="0">
                        <a:solidFill>
                          <a:srgbClr val="2C3E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4.5.3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RStudio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2026.04.0+526</a:t>
                      </a:r>
                      <a:endParaRPr lang="en-US" altLang="zh-CN" sz="1800" b="0" i="0">
                        <a:solidFill>
                          <a:srgbClr val="2C3E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EAECE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1378598" y="272161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步骤一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42695" y="49071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步骤二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6070" y="10953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包与辅助函数</a:t>
            </a:r>
            <a:endParaRPr lang="zh-CN" altLang="en-US" sz="2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9" name="图片 28" descr="carbon (2)"/>
          <p:cNvPicPr>
            <a:picLocks noChangeAspect="1"/>
          </p:cNvPicPr>
          <p:nvPr/>
        </p:nvPicPr>
        <p:blipFill>
          <a:blip r:embed="rId1"/>
          <a:srcRect l="6729" t="18543" r="55708" b="18766"/>
          <a:stretch>
            <a:fillRect/>
          </a:stretch>
        </p:blipFill>
        <p:spPr>
          <a:xfrm>
            <a:off x="167640" y="1795145"/>
            <a:ext cx="5372735" cy="2936875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5789930" y="1555750"/>
          <a:ext cx="549529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7645"/>
                <a:gridCol w="27476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软件/包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数据处理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tidyverse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data.stable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贝叶斯建模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brms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Stan)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结果提取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broom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贝叶斯可视化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bayesplot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图形绘制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ggplot2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字符串拼接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glue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自定义函数</a:t>
                      </a:r>
                      <a:endParaRPr lang="zh-CN" altLang="en-US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helpfuncs.R</a:t>
                      </a:r>
                      <a:endParaRPr lang="en-US" altLang="zh-CN" sz="20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1378598" y="272161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步骤一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42695" y="49071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步骤二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 descr="carbon (1)"/>
          <p:cNvPicPr>
            <a:picLocks noChangeAspect="1"/>
          </p:cNvPicPr>
          <p:nvPr/>
        </p:nvPicPr>
        <p:blipFill>
          <a:blip r:embed="rId1"/>
          <a:srcRect l="6604" t="29998" r="21159" b="25558"/>
          <a:stretch>
            <a:fillRect/>
          </a:stretch>
        </p:blipFill>
        <p:spPr>
          <a:xfrm>
            <a:off x="346710" y="1642110"/>
            <a:ext cx="5363845" cy="129603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1192530" y="1099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2"/>
                </a:solidFill>
                <a:latin typeface="Times New Roman" panose="020206030504050203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设置贝叶斯模型参数</a:t>
            </a:r>
            <a:endParaRPr lang="zh-CN" altLang="en-US" sz="2400" b="1">
              <a:solidFill>
                <a:schemeClr val="accent2"/>
              </a:solidFill>
              <a:latin typeface="Times New Roman" panose="020206030504050203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391920" y="32391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导入数据并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</a:t>
            </a:r>
            <a:endParaRPr lang="zh-CN" altLang="en-US" sz="2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carbon (4)"/>
          <p:cNvPicPr>
            <a:picLocks noChangeAspect="1"/>
          </p:cNvPicPr>
          <p:nvPr/>
        </p:nvPicPr>
        <p:blipFill>
          <a:blip r:embed="rId2"/>
          <a:srcRect l="9047" t="24851" r="33115" b="23894"/>
          <a:stretch>
            <a:fillRect/>
          </a:stretch>
        </p:blipFill>
        <p:spPr>
          <a:xfrm>
            <a:off x="346710" y="3898265"/>
            <a:ext cx="5363210" cy="1697355"/>
          </a:xfrm>
          <a:prstGeom prst="rect">
            <a:avLst/>
          </a:prstGeom>
        </p:spPr>
      </p:pic>
      <p:sp>
        <p:nvSpPr>
          <p:cNvPr id="9" name="矩形: 圆角 2"/>
          <p:cNvSpPr/>
          <p:nvPr>
            <p:custDataLst>
              <p:tags r:id="rId3"/>
            </p:custDataLst>
          </p:nvPr>
        </p:nvSpPr>
        <p:spPr>
          <a:xfrm>
            <a:off x="5947410" y="824230"/>
            <a:ext cx="5976000" cy="1440000"/>
          </a:xfrm>
          <a:prstGeom prst="roundRect">
            <a:avLst>
              <a:gd name="adj" fmla="val 863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2200"/>
              </a:lnSpc>
            </a:pPr>
            <a:r>
              <a:rPr lang="zh-CN" altLang="en-US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分别在</a:t>
            </a:r>
            <a:r>
              <a:rPr lang="en-US" altLang="zh-CN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个研究中建立两层贝叶斯层级模型，拟合包含 </a:t>
            </a:r>
            <a:r>
              <a:rPr lang="en-US" altLang="zh-CN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conditionEC </a:t>
            </a:r>
            <a:r>
              <a:rPr lang="zh-CN" altLang="en-US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的完整模型（</a:t>
            </a:r>
            <a:r>
              <a:rPr lang="en-US" altLang="zh-CN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Full Model）</a:t>
            </a:r>
            <a:r>
              <a:rPr lang="zh-CN" altLang="en-US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和不包含 </a:t>
            </a:r>
            <a:r>
              <a:rPr lang="en-US" altLang="zh-CN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conditionEC </a:t>
            </a:r>
            <a:r>
              <a:rPr lang="zh-CN" altLang="en-US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的零模型（</a:t>
            </a:r>
            <a:r>
              <a:rPr lang="en-US" altLang="zh-CN" sz="20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Null Model）</a:t>
            </a:r>
            <a:endParaRPr lang="en-US" altLang="zh-CN" sz="2000" b="0" i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5"/>
          <p:cNvSpPr/>
          <p:nvPr>
            <p:custDataLst>
              <p:tags r:id="rId4"/>
            </p:custDataLst>
          </p:nvPr>
        </p:nvSpPr>
        <p:spPr>
          <a:xfrm>
            <a:off x="5944870" y="2940685"/>
            <a:ext cx="5976000" cy="1584000"/>
          </a:xfrm>
          <a:prstGeom prst="roundRect">
            <a:avLst>
              <a:gd name="adj" fmla="val 9818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合并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四个研究的数据构建三层贝叶斯层级模型。同样拟合包含 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conditionEC 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的完整模型与不包含 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conditionEC 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的零模型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: 圆角 7"/>
          <p:cNvSpPr/>
          <p:nvPr>
            <p:custDataLst>
              <p:tags r:id="rId5"/>
            </p:custDataLst>
          </p:nvPr>
        </p:nvSpPr>
        <p:spPr>
          <a:xfrm>
            <a:off x="5947575" y="5119537"/>
            <a:ext cx="5976000" cy="1188000"/>
          </a:xfrm>
          <a:prstGeom prst="roundRect">
            <a:avLst>
              <a:gd name="adj" fmla="val 8593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最后通过桥采样估计各模型的边际似然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根据边际似然计算贝叶斯因子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比较完整模型与零模型对数据的支持程度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箭头: 下 13"/>
          <p:cNvSpPr/>
          <p:nvPr>
            <p:custDataLst>
              <p:tags r:id="rId6"/>
            </p:custDataLst>
          </p:nvPr>
        </p:nvSpPr>
        <p:spPr>
          <a:xfrm>
            <a:off x="8727622" y="2491719"/>
            <a:ext cx="359534" cy="360000"/>
          </a:xfrm>
          <a:prstGeom prst="downArrow">
            <a:avLst/>
          </a:prstGeom>
          <a:solidFill>
            <a:schemeClr val="accent1"/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18"/>
          <p:cNvSpPr/>
          <p:nvPr>
            <p:custDataLst>
              <p:tags r:id="rId7"/>
            </p:custDataLst>
          </p:nvPr>
        </p:nvSpPr>
        <p:spPr>
          <a:xfrm>
            <a:off x="8728892" y="4689261"/>
            <a:ext cx="359534" cy="360000"/>
          </a:xfrm>
          <a:prstGeom prst="downArrow">
            <a:avLst/>
          </a:prstGeom>
          <a:solidFill>
            <a:schemeClr val="accent1"/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20115" y="57404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βcondition​=Deplete−Control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arbon"/>
          <p:cNvPicPr>
            <a:picLocks noChangeAspect="1"/>
          </p:cNvPicPr>
          <p:nvPr/>
        </p:nvPicPr>
        <p:blipFill>
          <a:blip r:embed="rId3"/>
          <a:srcRect l="5906" t="22649" r="6667" b="22900"/>
          <a:stretch>
            <a:fillRect/>
          </a:stretch>
        </p:blipFill>
        <p:spPr>
          <a:xfrm>
            <a:off x="720090" y="2002155"/>
            <a:ext cx="9910445" cy="15386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5300" y="905510"/>
            <a:ext cx="11450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根据既往研究报道的效应量（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Cohen's d = −0.28）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构建信息先验（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informed prior），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并将其转换为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conditionEC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回归系数的正态先验分布；随后结合观测数据更新先验，获得后验分布并计算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carbon (1)"/>
          <p:cNvPicPr>
            <a:picLocks noChangeAspect="1"/>
          </p:cNvPicPr>
          <p:nvPr/>
        </p:nvPicPr>
        <p:blipFill>
          <a:blip r:embed="rId4"/>
          <a:srcRect l="5906" t="26160" r="6307" b="22524"/>
          <a:stretch>
            <a:fillRect/>
          </a:stretch>
        </p:blipFill>
        <p:spPr>
          <a:xfrm>
            <a:off x="720090" y="4144645"/>
            <a:ext cx="9910445" cy="14439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t="49112" r="66974"/>
          <a:stretch>
            <a:fillRect/>
          </a:stretch>
        </p:blipFill>
        <p:spPr>
          <a:xfrm>
            <a:off x="720090" y="3671570"/>
            <a:ext cx="3093720" cy="473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 t="49967" r="17808"/>
          <a:stretch>
            <a:fillRect/>
          </a:stretch>
        </p:blipFill>
        <p:spPr>
          <a:xfrm>
            <a:off x="720090" y="5826125"/>
            <a:ext cx="7452995" cy="960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carbon (3)"/>
          <p:cNvPicPr/>
          <p:nvPr/>
        </p:nvPicPr>
        <p:blipFill>
          <a:blip r:embed="rId3"/>
          <a:srcRect l="5318" t="18040" r="6219" b="17363"/>
          <a:stretch>
            <a:fillRect/>
          </a:stretch>
        </p:blipFill>
        <p:spPr>
          <a:xfrm>
            <a:off x="720090" y="1439545"/>
            <a:ext cx="10080000" cy="22396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849880" y="776605"/>
            <a:ext cx="839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2-level: full model vs null model(no condition)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carbon (2)"/>
          <p:cNvPicPr/>
          <p:nvPr/>
        </p:nvPicPr>
        <p:blipFill>
          <a:blip r:embed="rId4"/>
          <a:srcRect l="4745" t="9938" r="5105" b="32378"/>
          <a:stretch>
            <a:fillRect/>
          </a:stretch>
        </p:blipFill>
        <p:spPr>
          <a:xfrm>
            <a:off x="720090" y="3881755"/>
            <a:ext cx="10080000" cy="28079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3" name="墨迹 12"/>
              <p14:cNvContentPartPr/>
              <p14:nvPr/>
            </p14:nvContentPartPr>
            <p14:xfrm>
              <a:off x="5067300" y="2114550"/>
              <a:ext cx="3251200" cy="3492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6"/>
            </p:blipFill>
            <p:spPr>
              <a:xfrm>
                <a:off x="5067300" y="2114550"/>
                <a:ext cx="3251200" cy="349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4" name="墨迹 13"/>
              <p14:cNvContentPartPr/>
              <p14:nvPr/>
            </p14:nvContentPartPr>
            <p14:xfrm>
              <a:off x="5327650" y="5441950"/>
              <a:ext cx="2336800" cy="2222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8"/>
            </p:blipFill>
            <p:spPr>
              <a:xfrm>
                <a:off x="5327650" y="5441950"/>
                <a:ext cx="2336800" cy="2222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69545" y="2002155"/>
          <a:ext cx="11946255" cy="2309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285"/>
                <a:gridCol w="984250"/>
                <a:gridCol w="1022350"/>
                <a:gridCol w="922020"/>
                <a:gridCol w="1035050"/>
                <a:gridCol w="859155"/>
                <a:gridCol w="934085"/>
                <a:gridCol w="956310"/>
                <a:gridCol w="832485"/>
                <a:gridCol w="831850"/>
                <a:gridCol w="1108710"/>
                <a:gridCol w="693420"/>
                <a:gridCol w="1010285"/>
              </a:tblGrid>
              <a:tr h="640080">
                <a:tc rowSpan="2">
                  <a:txBody>
                    <a:bodyPr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study1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hMerge="1">
                  <a:tcPr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study2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hMerge="1">
                  <a:tcPr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study3 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hMerge="1">
                  <a:tcPr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study4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hMerge="1">
                  <a:tcP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 hMerge="1">
                  <a:tcPr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</a:tr>
              <a:tr h="379095">
                <a:tc vMerge="1">
                  <a:tcPr anchor="ctr" anchorCtr="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i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en-US" altLang="zh-CN" sz="2000" i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i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en-US" altLang="zh-CN" sz="2000" i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i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en-US" altLang="zh-CN" sz="2000" i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i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en-US" altLang="zh-CN" sz="2000" i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36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原文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-0.004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25.45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-0.22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-0.002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-0.08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-0.005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&gt;500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-0.006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-0.13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369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复现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-0.004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22.11</a:t>
                      </a:r>
                      <a:endParaRPr lang="en-US" altLang="zh-CN" sz="200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-0.22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-0.002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-0.08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-0.005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&gt;500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-0.32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-0.006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0.59</a:t>
                      </a:r>
                      <a:endParaRPr lang="en-US" altLang="zh-CN" sz="200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-0.13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123565" y="1016000"/>
            <a:ext cx="8013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2-level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：条件对边界参数的影响的模型比较结果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0090" y="4652645"/>
            <a:ext cx="110642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四个独立研究中，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conditionEC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对边界参数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的影响方向完全一致，均表现为负向效应（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b&lt;0），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操作倾向于降低反应边界。然而，各研究对该效应的证据强度存在明显差异：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Study1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Study3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提供了较强支持；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Study2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未能观察到明显支持；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Study4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的证据较弱。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arbon"/>
          <p:cNvPicPr>
            <a:picLocks noChangeAspect="1"/>
          </p:cNvPicPr>
          <p:nvPr/>
        </p:nvPicPr>
        <p:blipFill>
          <a:blip r:embed="rId3"/>
          <a:srcRect l="5906" t="21294" r="5224" b="20127"/>
          <a:stretch>
            <a:fillRect/>
          </a:stretch>
        </p:blipFill>
        <p:spPr>
          <a:xfrm>
            <a:off x="568325" y="1333500"/>
            <a:ext cx="11310620" cy="177101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rcRect t="34893" r="23628"/>
          <a:stretch>
            <a:fillRect/>
          </a:stretch>
        </p:blipFill>
        <p:spPr>
          <a:xfrm>
            <a:off x="527685" y="4550410"/>
            <a:ext cx="8172000" cy="1836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788400" y="4550410"/>
            <a:ext cx="33153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MCMC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采样过程中存在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个发散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部分采样轨迹达到最大树深限制（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treedepth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24555" y="560070"/>
            <a:ext cx="7887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3-level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model vs null model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 condition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carbon (2)"/>
          <p:cNvPicPr>
            <a:picLocks noChangeAspect="1"/>
          </p:cNvPicPr>
          <p:nvPr/>
        </p:nvPicPr>
        <p:blipFill>
          <a:blip r:embed="rId5"/>
          <a:srcRect l="4745" t="67378" r="4688" b="9751"/>
          <a:stretch>
            <a:fillRect/>
          </a:stretch>
        </p:blipFill>
        <p:spPr>
          <a:xfrm>
            <a:off x="644525" y="3232785"/>
            <a:ext cx="9389745" cy="1189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4" name="墨迹 13"/>
              <p14:cNvContentPartPr/>
              <p14:nvPr/>
            </p14:nvContentPartPr>
            <p14:xfrm>
              <a:off x="4648200" y="1612900"/>
              <a:ext cx="4832350" cy="3683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7"/>
            </p:blipFill>
            <p:spPr>
              <a:xfrm>
                <a:off x="4648200" y="1612900"/>
                <a:ext cx="4832350" cy="368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6" name="墨迹 15"/>
              <p14:cNvContentPartPr/>
              <p14:nvPr/>
            </p14:nvContentPartPr>
            <p14:xfrm>
              <a:off x="4591050" y="3371850"/>
              <a:ext cx="2736850" cy="25400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9"/>
            </p:blipFill>
            <p:spPr>
              <a:xfrm>
                <a:off x="4591050" y="3371850"/>
                <a:ext cx="2736850" cy="254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carbon"/>
          <p:cNvPicPr>
            <a:picLocks noChangeAspect="1"/>
          </p:cNvPicPr>
          <p:nvPr/>
        </p:nvPicPr>
        <p:blipFill>
          <a:blip r:embed="rId3"/>
          <a:srcRect l="5394" t="8122" r="10751" b="7407"/>
          <a:stretch>
            <a:fillRect/>
          </a:stretch>
        </p:blipFill>
        <p:spPr>
          <a:xfrm>
            <a:off x="306070" y="1447800"/>
            <a:ext cx="6931025" cy="52304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50365" y="9061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模型收敛性诊断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7095" y="646430"/>
            <a:ext cx="4853305" cy="621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 Rhat = 1.00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用于判断多条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MCMC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链是否收敛到了同一个后验分布。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说明各条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MCMC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链已充分混合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收敛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 ESS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远大于1000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说明有效样本量充足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⚠ 出现52次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Divergence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说明后验分布存在局部高曲率区域，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导致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NUTS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采样器难以充分探索参数空间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对研究结论影响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 不影响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效应方向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⚠ 可能导致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出现一定波动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2" name="墨迹 11"/>
              <p14:cNvContentPartPr/>
              <p14:nvPr/>
            </p14:nvContentPartPr>
            <p14:xfrm>
              <a:off x="3905250" y="2870200"/>
              <a:ext cx="311150" cy="2222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5"/>
            </p:blipFill>
            <p:spPr>
              <a:xfrm>
                <a:off x="3905250" y="2870200"/>
                <a:ext cx="311150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3" name="墨迹 12"/>
              <p14:cNvContentPartPr/>
              <p14:nvPr/>
            </p14:nvContentPartPr>
            <p14:xfrm>
              <a:off x="4787900" y="2889250"/>
              <a:ext cx="546100" cy="2095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7"/>
            </p:blipFill>
            <p:spPr>
              <a:xfrm>
                <a:off x="4787900" y="2889250"/>
                <a:ext cx="546100" cy="2095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8935" y="960755"/>
            <a:ext cx="4940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模型诊断：随机效应方差接近边界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07935" y="908685"/>
            <a:ext cx="4494530" cy="594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Study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层和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Participant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层均存在非零随机效应，说明不同研究和不同被试之间存在一定异质性，采用三层多水平模型是合理的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随机效应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标准差略小于残差标准差，表明大部分变异仍来自试次层面的随机波动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随机效应方差接近0时，后验分布靠近边界，容易产生发散。小组数条件下常见的现象，并不意味着主要结论无效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carbon (1)"/>
          <p:cNvPicPr>
            <a:picLocks noChangeAspect="1"/>
          </p:cNvPicPr>
          <p:nvPr/>
        </p:nvPicPr>
        <p:blipFill>
          <a:blip r:embed="rId3"/>
          <a:srcRect l="5906" t="11785" r="37995" b="12278"/>
          <a:stretch>
            <a:fillRect/>
          </a:stretch>
        </p:blipFill>
        <p:spPr>
          <a:xfrm>
            <a:off x="593090" y="1557655"/>
            <a:ext cx="6839585" cy="40138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1841500" y="2355850"/>
              <a:ext cx="927100" cy="5905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1841500" y="2355850"/>
                <a:ext cx="927100" cy="590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1809750" y="3676650"/>
              <a:ext cx="952500" cy="5016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1809750" y="3676650"/>
                <a:ext cx="952500" cy="501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1003300" y="4991100"/>
              <a:ext cx="1022350" cy="4508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1003300" y="4991100"/>
                <a:ext cx="1022350" cy="4508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carbon (5)"/>
          <p:cNvPicPr>
            <a:picLocks noChangeAspect="1"/>
          </p:cNvPicPr>
          <p:nvPr/>
        </p:nvPicPr>
        <p:blipFill>
          <a:blip r:embed="rId3"/>
          <a:srcRect l="5476" t="32114" r="32063" b="32762"/>
          <a:stretch>
            <a:fillRect/>
          </a:stretch>
        </p:blipFill>
        <p:spPr>
          <a:xfrm>
            <a:off x="379730" y="1202055"/>
            <a:ext cx="11143615" cy="106870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/>
        </p:nvGraphicFramePr>
        <p:xfrm>
          <a:off x="379730" y="2648585"/>
          <a:ext cx="11491595" cy="2646045"/>
        </p:xfrm>
        <a:graphic>
          <a:graphicData uri="http://schemas.openxmlformats.org/drawingml/2006/table">
            <a:tbl>
              <a:tblPr/>
              <a:tblGrid>
                <a:gridCol w="1789430"/>
                <a:gridCol w="1229360"/>
                <a:gridCol w="1459230"/>
                <a:gridCol w="2195830"/>
                <a:gridCol w="1508125"/>
                <a:gridCol w="1507490"/>
                <a:gridCol w="1802130"/>
              </a:tblGrid>
              <a:tr h="9194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样本量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800" i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1800" i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)*</a:t>
                      </a:r>
                      <a:endParaRPr lang="en-US" altLang="zh-CN" sz="1800" i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回归系数</a:t>
                      </a:r>
                      <a:r>
                        <a:rPr 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endParaRPr lang="en-US" sz="1800" i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95%HPD(b)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BF</a:t>
                      </a:r>
                      <a:endParaRPr 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Cohen’s </a:t>
                      </a:r>
                      <a:r>
                        <a:rPr lang="en-US" altLang="zh-CN" sz="1800" i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d</a:t>
                      </a:r>
                      <a:endParaRPr lang="en-US" altLang="zh-CN" sz="1800" i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95%HPD(d)</a:t>
                      </a:r>
                      <a:endParaRPr lang="en-US" altLang="zh-CN" sz="1800" i="1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2138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原文献</a:t>
                      </a:r>
                      <a:endParaRPr 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报告结果</a:t>
                      </a:r>
                      <a:endParaRPr 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686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-0.004 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[−0.005, −0.002]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29.10 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−0.15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[−0.22, −0.07]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80518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本研究</a:t>
                      </a:r>
                      <a:endParaRPr 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686 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-0.004 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[−0.005, −0.002]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38.61 </a:t>
                      </a:r>
                      <a:endParaRPr lang="en-US" altLang="zh-CN" sz="180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−0.15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[−0.22, −0.07]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198495" y="556895"/>
            <a:ext cx="7365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3-level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：条件对边界参数的影响的模型比较结果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040" y="5476240"/>
            <a:ext cx="11297920" cy="1209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效应的方向和存在性具有较高可信度。但由于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Bayes Factor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依赖于边际似然估计，采样警告可能会对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的精确数值产生一定影响。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形 5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216" y="1749985"/>
            <a:ext cx="268380" cy="25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6070" y="302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复现流程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effect_condition_on_bound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" y="941705"/>
            <a:ext cx="4680000" cy="35684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900" y="824230"/>
            <a:ext cx="4680000" cy="356849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2600" y="4559300"/>
            <a:ext cx="114623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条件（低负荷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高负荷）对边界影响的贝叶斯后验密度和先验密度分布（左图）复现结果，（右图）原文献结果。先验分布反映了作者基于既有元分析对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ego depletion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效应的预期（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 = −0.28）。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后验分布则反映结合当前数据后的更新估计（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 = −0.13）。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结果表明，虽然高认知负荷确实降低了决策边界，但实际效应仅约为理论预期的一半，说明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ego depletion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的影响可能比传统观点认为的更弱。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>
            <a:off x="664845" y="1057910"/>
            <a:ext cx="4213225" cy="656590"/>
          </a:xfrm>
          <a:prstGeom prst="roundRect">
            <a:avLst>
              <a:gd name="adj" fmla="val 863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原文主要结论得到了较好的复现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360" y="215900"/>
            <a:ext cx="2378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4845" y="1790700"/>
            <a:ext cx="110578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在单个研究层面，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对边界参数的影响方向与原文完全一致，四个研究均表现为负向效应（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b&lt;0）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在整合四个研究的数据后，复现得到的总体结果同样支持高负荷条件降低边界参数的结论。虽然复现得到的贝叶斯因子（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BF≈38）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与原文报告值（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BF=29.10）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存在一定差异，但二者均属于强证据水平（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BF&gt;10），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因此并不会改变研究结论。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: 圆角 2"/>
          <p:cNvSpPr/>
          <p:nvPr>
            <p:custDataLst>
              <p:tags r:id="rId2"/>
            </p:custDataLst>
          </p:nvPr>
        </p:nvSpPr>
        <p:spPr>
          <a:xfrm>
            <a:off x="664845" y="3900170"/>
            <a:ext cx="4213225" cy="656590"/>
          </a:xfrm>
          <a:prstGeom prst="roundRect">
            <a:avLst>
              <a:gd name="adj" fmla="val 863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复现过程的模型问题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4845" y="4796155"/>
            <a:ext cx="113607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在三层贝叶斯模型分析过程中，模型出现了采样警告。检查发现模型不存在传统意义上的收敛失败问题。然而，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层随机效应标准差仅约0.02，且仅包含4个研究水平，因此高层随机效应的估计可能存在不稳定性。采样警告很可能来源于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层随机效应方差接近于零，而非固定效应参数本身。因此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condition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效应存在的结论具有较高可信度，但贝叶斯因子的精确数值应谨慎解释。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820876" y="4714671"/>
            <a:ext cx="5165255" cy="398780"/>
            <a:chOff x="3541749" y="4779269"/>
            <a:chExt cx="5165255" cy="398780"/>
          </a:xfrm>
        </p:grpSpPr>
        <p:sp>
          <p:nvSpPr>
            <p:cNvPr id="11" name="文本框 10"/>
            <p:cNvSpPr txBox="1"/>
            <p:nvPr/>
          </p:nvSpPr>
          <p:spPr>
            <a:xfrm>
              <a:off x="3541749" y="4779269"/>
              <a:ext cx="1960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汇报人：金晓慧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236854" y="4779269"/>
              <a:ext cx="247015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汇报时间：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2026.6.4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995520" y="4208748"/>
            <a:ext cx="10437918" cy="0"/>
          </a:xfrm>
          <a:prstGeom prst="line">
            <a:avLst/>
          </a:prstGeom>
          <a:ln w="222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  <a:gs pos="51000">
                  <a:schemeClr val="accent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79128" y="2572463"/>
            <a:ext cx="9833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b="1" spc="3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  <a:endParaRPr lang="zh-CN" altLang="en-US" sz="7200" b="1" spc="3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82465" y="0"/>
            <a:ext cx="3227070" cy="23279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62334&quot;,&quot;origin&quot;:0,&quot;type&quot;:&quot;icons&quot;,&quot;user&quot;:&quot;1062117366&quot;}"/>
</p:tagLst>
</file>

<file path=ppt/tags/tag2.xml><?xml version="1.0" encoding="utf-8"?>
<p:tagLst xmlns:p="http://schemas.openxmlformats.org/presentationml/2006/main">
  <p:tag name="KSO_DOCER_RESOURCE_TRACE_INFO" val="{&quot;id&quot;:&quot;50062334&quot;,&quot;origin&quot;:0,&quot;type&quot;:&quot;icons&quot;,&quot;user&quot;:&quot;1062117366&quot;}"/>
</p:tagLst>
</file>

<file path=ppt/tags/tag3.xml><?xml version="1.0" encoding="utf-8"?>
<p:tagLst xmlns:p="http://schemas.openxmlformats.org/presentationml/2006/main">
  <p:tag name="KSO_WM_DIAGRAM_VIRTUALLY_FRAME" val="{&quot;height&quot;:473.07913385826777,&quot;left&quot;:367.41307086614177,&quot;top&quot;:49.57732283464566,&quot;width&quot;:559.4926771653543}"/>
</p:tagLst>
</file>

<file path=ppt/tags/tag4.xml><?xml version="1.0" encoding="utf-8"?>
<p:tagLst xmlns:p="http://schemas.openxmlformats.org/presentationml/2006/main">
  <p:tag name="KSO_WM_DIAGRAM_VIRTUALLY_FRAME" val="{&quot;height&quot;:473.07913385826777,&quot;left&quot;:367.41307086614177,&quot;top&quot;:49.57732283464566,&quot;width&quot;:559.4926771653543}"/>
</p:tagLst>
</file>

<file path=ppt/tags/tag5.xml><?xml version="1.0" encoding="utf-8"?>
<p:tagLst xmlns:p="http://schemas.openxmlformats.org/presentationml/2006/main">
  <p:tag name="KSO_WM_DIAGRAM_VIRTUALLY_FRAME" val="{&quot;height&quot;:473.07913385826777,&quot;left&quot;:367.41307086614177,&quot;top&quot;:49.57732283464566,&quot;width&quot;:559.4926771653543}"/>
</p:tagLst>
</file>

<file path=ppt/tags/tag6.xml><?xml version="1.0" encoding="utf-8"?>
<p:tagLst xmlns:p="http://schemas.openxmlformats.org/presentationml/2006/main">
  <p:tag name="KSO_WM_DIAGRAM_VIRTUALLY_FRAME" val="{&quot;height&quot;:473.07913385826777,&quot;left&quot;:367.41307086614177,&quot;top&quot;:49.57732283464566,&quot;width&quot;:559.4926771653543}"/>
</p:tagLst>
</file>

<file path=ppt/tags/tag7.xml><?xml version="1.0" encoding="utf-8"?>
<p:tagLst xmlns:p="http://schemas.openxmlformats.org/presentationml/2006/main">
  <p:tag name="TABLE_ENDDRAG_ORIGIN_RECT" val="599*198"/>
  <p:tag name="TABLE_ENDDRAG_RECT" val="24*319*599*198"/>
</p:tagLst>
</file>

<file path=ppt/tags/tag8.xml><?xml version="1.0" encoding="utf-8"?>
<p:tagLst xmlns:p="http://schemas.openxmlformats.org/presentationml/2006/main">
  <p:tag name="TABLE_ENDDRAG_ORIGIN_RECT" val="259*108"/>
  <p:tag name="TABLE_ENDDRAG_RECT" val="640*339*260*108"/>
</p:tagLst>
</file>

<file path=ppt/tags/tag9.xml><?xml version="1.0" encoding="utf-8"?>
<p:tagLst xmlns:p="http://schemas.openxmlformats.org/presentationml/2006/main">
  <p:tag name="KSO_WM_DIAGRAM_VIRTUALLY_FRAME" val="{&quot;height&quot;:479.15645669291337,&quot;left&quot;:456.16299212598426,&quot;top&quot;:39.5,&quot;width&quot;:503.83700787401574}"/>
</p:tagLst>
</file>

<file path=ppt/tags/tag10.xml><?xml version="1.0" encoding="utf-8"?>
<p:tagLst xmlns:p="http://schemas.openxmlformats.org/presentationml/2006/main">
  <p:tag name="KSO_WM_DIAGRAM_VIRTUALLY_FRAME" val="{&quot;height&quot;:479.15645669291337,&quot;left&quot;:456.16299212598426,&quot;top&quot;:39.5,&quot;width&quot;:503.83700787401574}"/>
</p:tagLst>
</file>

<file path=ppt/tags/tag11.xml><?xml version="1.0" encoding="utf-8"?>
<p:tagLst xmlns:p="http://schemas.openxmlformats.org/presentationml/2006/main">
  <p:tag name="KSO_WM_DIAGRAM_VIRTUALLY_FRAME" val="{&quot;height&quot;:479.15645669291337,&quot;left&quot;:456.16299212598426,&quot;top&quot;:39.5,&quot;width&quot;:503.83700787401574}"/>
</p:tagLst>
</file>

<file path=ppt/tags/tag12.xml><?xml version="1.0" encoding="utf-8"?>
<p:tagLst xmlns:p="http://schemas.openxmlformats.org/presentationml/2006/main">
  <p:tag name="KSO_WM_DIAGRAM_VIRTUALLY_FRAME" val="{&quot;height&quot;:479.15645669291337,&quot;left&quot;:456.16299212598426,&quot;top&quot;:39.5,&quot;width&quot;:503.83700787401574}"/>
</p:tagLst>
</file>

<file path=ppt/tags/tag13.xml><?xml version="1.0" encoding="utf-8"?>
<p:tagLst xmlns:p="http://schemas.openxmlformats.org/presentationml/2006/main">
  <p:tag name="KSO_WM_DIAGRAM_VIRTUALLY_FRAME" val="{&quot;height&quot;:479.15645669291337,&quot;left&quot;:456.16299212598426,&quot;top&quot;:39.5,&quot;width&quot;:503.83700787401574}"/>
</p:tagLst>
</file>

<file path=ppt/tags/tag14.xml><?xml version="1.0" encoding="utf-8"?>
<p:tagLst xmlns:p="http://schemas.openxmlformats.org/presentationml/2006/main">
  <p:tag name="KSO_WM_DIAGRAM_VIRTUALLY_FRAME" val="{&quot;height&quot;:473.07913385826777,&quot;left&quot;:367.41307086614177,&quot;top&quot;:49.57732283464566,&quot;width&quot;:559.4926771653543}"/>
</p:tagLst>
</file>

<file path=ppt/tags/tag15.xml><?xml version="1.0" encoding="utf-8"?>
<p:tagLst xmlns:p="http://schemas.openxmlformats.org/presentationml/2006/main">
  <p:tag name="KSO_WM_DIAGRAM_VIRTUALLY_FRAME" val="{&quot;height&quot;:473.07913385826777,&quot;left&quot;:367.41307086614177,&quot;top&quot;:49.57732283464566,&quot;width&quot;:559.4926771653543}"/>
</p:tagLst>
</file>

<file path=ppt/tags/tag16.xml><?xml version="1.0" encoding="utf-8"?>
<p:tagLst xmlns:p="http://schemas.openxmlformats.org/presentationml/2006/main">
  <p:tag name="resource_record_key" val="{&quot;10&quot;:[50062334],&quot;29&quot;:[50053044,50053052,50053024,50053017,50053008,50053246]}"/>
</p:tagLst>
</file>

<file path=ppt/theme/theme1.xml><?xml version="1.0" encoding="utf-8"?>
<a:theme xmlns:a="http://schemas.openxmlformats.org/drawingml/2006/main" name="Office 主题​​">
  <a:themeElements>
    <a:clrScheme name="自定义 9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3F88"/>
      </a:accent1>
      <a:accent2>
        <a:srgbClr val="1F5FA0"/>
      </a:accent2>
      <a:accent3>
        <a:srgbClr val="629DD1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01600"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4110</Words>
  <Application>WPS 演示</Application>
  <PresentationFormat>宽屏</PresentationFormat>
  <Paragraphs>465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Times New Roman</vt:lpstr>
      <vt:lpstr>Arial</vt:lpstr>
      <vt:lpstr>等线</vt:lpstr>
      <vt:lpstr>Arial Unicode MS</vt:lpstr>
      <vt:lpstr>等线 Light</vt:lpstr>
      <vt:lpstr>Office 主题​​</vt:lpstr>
      <vt:lpstr>PowerPoint 演示文稿</vt:lpstr>
      <vt:lpstr>高认知负荷会削弱认知控制能力，还是改变决策策略？</vt:lpstr>
      <vt:lpstr>Drift-diffusion model（DDM）漂移扩散模型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俞静欢</cp:lastModifiedBy>
  <cp:revision>700</cp:revision>
  <dcterms:created xsi:type="dcterms:W3CDTF">2025-05-12T09:52:00Z</dcterms:created>
  <dcterms:modified xsi:type="dcterms:W3CDTF">2026-06-11T11:06:20Z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75895B989E2047C79594C1A9CA97A040_12</vt:lpwstr>
  </property>
</Properties>
</file>